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Regional Sales Performance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BE-46E6-A9F8-8B761ADD82A9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BE-46E6-A9F8-8B761ADD82A9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BE-46E6-A9F8-8B761ADD82A9}"/>
              </c:ext>
            </c:extLst>
          </c:dPt>
          <c:dPt>
            <c:idx val="3"/>
            <c:invertIfNegative val="0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BE-46E6-A9F8-8B761ADD82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BE-46E6-A9F8-8B761ADD82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Profit by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C3-43CE-926F-DFE4544EE788}"/>
              </c:ext>
            </c:extLst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C3-43CE-926F-DFE4544EE788}"/>
              </c:ext>
            </c:extLst>
          </c:dPt>
          <c:dPt>
            <c:idx val="2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C3-43CE-926F-DFE4544EE78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6C3-43CE-926F-DFE4544EE78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6C3-43CE-926F-DFE4544EE78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6C3-43CE-926F-DFE4544EE78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145455</c:v>
                </c:pt>
                <c:pt idx="1">
                  <c:v>122491</c:v>
                </c:pt>
                <c:pt idx="2">
                  <c:v>18451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C3-43CE-926F-DFE4544EE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03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-548640"/>
            <a:ext cx="3200400" cy="32004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4754880"/>
            <a:ext cx="2286000" cy="22860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DATA ANALYTICS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Retail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11480" y="2743200"/>
            <a:ext cx="59436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using Excel  •  SQL  •  Power BI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840480"/>
            <a:ext cx="347472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</a:rPr>
              <a:t>PRESENTED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87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Kumar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4590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Data Analytics  |  VGU Online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3840480"/>
            <a:ext cx="201168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5196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</a:rPr>
              <a:t>DATASET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5196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10,194 Rows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51960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21 Columns  |  Superstore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15087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55080" y="3840480"/>
            <a:ext cx="1508760" cy="2011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55080" y="40965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01000" y="3840480"/>
            <a:ext cx="15087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001000" y="3840480"/>
            <a:ext cx="1508760" cy="20116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01000" y="40965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SQL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46920" y="3840480"/>
            <a:ext cx="150876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646920" y="3840480"/>
            <a:ext cx="1508760" cy="20116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46920" y="409651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What we will cover in this 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307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636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Goals, dataset details, and tools used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1984248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19842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Dataset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3134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10,194 rows  •  21 columns  •  Superstore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34056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" y="2734056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27340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807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Excel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Data cleaning, pivot tables and 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483864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3483864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4838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557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81304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15 queries from basic to intermediate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1234440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63640" y="12344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1307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Power BI Dashboards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15636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 interactive dashboards with 51 visuals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1984248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63640" y="1984248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63640" y="19842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Business Insights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3134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Critical findings from the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2734056"/>
            <a:ext cx="5394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263640" y="2734056"/>
            <a:ext cx="502920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63640" y="27340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0" y="2807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3063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Learnings, skills gained and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End-to-end retail data analysis across three industry-standard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7498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Project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Perform a complete business analysis on Superstore retail data to uncover sales trends, identify profitable segments, analyze customer behavior, and measure the impact of discounts on profitability — using Excel, SQL, and Power BI.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3566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944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735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Fix types, remove errors, add derived columns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26060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51960" y="2606040"/>
            <a:ext cx="3566160" cy="274320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43400" y="2944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Deep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2735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Pivot tables, SQL queries, DAX measures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3880" y="260604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183880" y="2606040"/>
            <a:ext cx="3566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75320" y="2944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Visual Reporting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32735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Interactive Power BI dashboards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1480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3566160" cy="2011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MICROSOFT EXCEL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Data Cleaning  •  Pivot Tables  •  Charts  •  Dashboard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51960" y="411480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251960" y="4114800"/>
            <a:ext cx="3566160" cy="20116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4340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MySQL WORKBENCH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Table Design  •  15 Queries  •  Aggregations  •  Joins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411480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183880" y="4114800"/>
            <a:ext cx="3566160" cy="20116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275320" y="4370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MICROSOFT POWER BI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6268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4 Dashboards  •  51 Visuals  •  DAX  •  Slicers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Sample Superstore Dataset  |  Kaggle  |  2023-2024 US Retail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73736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10,194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123444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0" y="1234440"/>
            <a:ext cx="173736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8600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Columns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23444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51960" y="1234440"/>
            <a:ext cx="173736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5196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$2.33M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5196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Sales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234440"/>
            <a:ext cx="17373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$292K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83880" y="123444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83880" y="1234440"/>
            <a:ext cx="173736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8388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8388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Null Values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49840" y="123444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149840" y="1234440"/>
            <a:ext cx="173736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4984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14984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Regions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468880"/>
            <a:ext cx="5577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25420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Dataset Columns (21)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880360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28803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Order Date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40280" y="2880360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240280" y="28803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Category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23360" y="2880360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023360" y="28803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Sales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300984"/>
            <a:ext cx="16642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" y="330098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Ship Date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40280" y="3300984"/>
            <a:ext cx="16642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240280" y="330098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Sub-Category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23360" y="3300984"/>
            <a:ext cx="16642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23360" y="3300984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Quantity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721608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37216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Customer Name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40280" y="3721608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240280" y="37216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Product Name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23360" y="3721608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023360" y="37216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Discount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142232"/>
            <a:ext cx="16642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7200" y="41422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Segment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40280" y="4142232"/>
            <a:ext cx="16642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240280" y="41422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Region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23360" y="4142232"/>
            <a:ext cx="166420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023360" y="41422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Profit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562856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57200" y="456285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City / State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40280" y="4562856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240280" y="456285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Ship Mode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23360" y="4562856"/>
            <a:ext cx="1664208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023360" y="456285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Order ID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72200" y="2468880"/>
            <a:ext cx="5669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09360" y="25420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Business Context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263640" y="2907792"/>
            <a:ext cx="54864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3550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Categories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9244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Furniture, Office Supplies, Technology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63640" y="3291840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35508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Regions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09244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West, East, Central, South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63640" y="3675888"/>
            <a:ext cx="54864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355080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Segments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09244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Consumer, Corporate, Home Office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263640" y="4059936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355080" y="4078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Ship Modes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092440" y="4078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Standard, Second, First, Same Day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263640" y="4443984"/>
            <a:ext cx="548640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35508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Period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809244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January 2023 to December 2026</a:t>
            </a:r>
          </a:p>
        </p:txBody>
      </p:sp>
      <p:sp>
        <p:nvSpPr>
          <p:cNvPr id="81" name="Shape 79"/>
          <p:cNvSpPr/>
          <p:nvPr/>
        </p:nvSpPr>
        <p:spPr>
          <a:xfrm>
            <a:off x="6263640" y="4828032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355080" y="4846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Coverage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809244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49 US States, 531 Cities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Excel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 cleaning, pivot tables, formulas and interactive dashboard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7772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3441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6642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Removed duplicates, fixed date formats (DD-MMM-YYYY), formatted currency and percent columns, zero null values confirmed.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7772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450592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53288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New Columns Added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852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Year column via =YEAR(), Month column via =TEXT(), Profit Flag via =IF(profit&lt;0,'LOSS','PROFIT') to enable trend analysis.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7772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639312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37216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Pivot Tables (4)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04164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Region Analysis, Category Analysis, Monthly Trend, Segment Analysis — all created on separate worksheets for clear reporting.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828032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7772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49103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Dashboard Sheet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52303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3 interactive charts (Bar, Line, Pie) and 4 KPI boxes (Total Sales $2.33M, Profit $292K, Orders 10194, Best Region: West).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1261872"/>
            <a:ext cx="4434840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406640" y="1261872"/>
            <a:ext cx="4434840" cy="347472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98080" y="126187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 Deliverables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1719072"/>
            <a:ext cx="42519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589520" y="1737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6 Sheets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0976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Raw Data, 4 Pivot Sheets, Dashboard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2249424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589520" y="2267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10,194 Rows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509760" y="22677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Complete dataset, zero data loss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98080" y="2779776"/>
            <a:ext cx="42519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589520" y="2798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4 Pivot Tables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09760" y="27980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Region, Category, Monthly, Segment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0" y="3310128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589520" y="3328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3 Dashboard Charts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509760" y="3328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Bar, Line and Pie charts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3840480"/>
            <a:ext cx="42519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589520" y="3858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4 KPI Boxes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509760" y="3858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$2.33M Sales  •  $292K Profit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4370832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589520" y="4389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3 New Columns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509760" y="4389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Year, Month, Profit Flag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98080" y="4901184"/>
            <a:ext cx="425196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589520" y="4919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Score: 30/30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509760" y="49194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All deliverables complete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SQL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MySQL Workbench  •  15 queries from basic to intermediate level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557784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577840" cy="38404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BASIC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1208" y="1847088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View Sample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49424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1208" y="2340864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22585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Business Summary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43200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1208" y="2834640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4672" y="2752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Unique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36976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21208" y="3328416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4672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Region Filter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730752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21208" y="3822192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4672" y="37398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Loss Making Orders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21208" y="4315968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4672" y="42336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High Discount Orders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718304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21208" y="4809744"/>
            <a:ext cx="182880" cy="182880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4672" y="4727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Orders by Year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1261872"/>
            <a:ext cx="557784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09360" y="1261872"/>
            <a:ext cx="557784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0" y="1261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INTERMEDIATE QUERIES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1755648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10528" y="1847088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793992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Region-wise Sales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2249424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510528" y="2340864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793992" y="22585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Category Performance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2743200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510528" y="2834640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793992" y="2752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Sub-Category Ranking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3236976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510528" y="3328416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93992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Monthly Sales Trend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3730752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510528" y="3822192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793992" y="37398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 10 Customers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4224528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510528" y="4315968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93992" y="42336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Profit Above 50K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4718304"/>
            <a:ext cx="53949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510528" y="4809744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793992" y="4727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Discount Impact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00800" y="5212080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510528" y="5303520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793992" y="52212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Delivery Speed Analysis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069080" y="5833872"/>
            <a:ext cx="40233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069080" y="58338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Total: 15 SQL Queries Completed  |  Score: 15/15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Power BI Dashboards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 interactive dashboards  •  51 visuals  •  DAX measures  •  Slicers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685800" cy="102412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Main Sales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6824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 Cards  •  Bar  •  Line  •  Pie  •  Map  •  Donut  •  3 Slicers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685800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45059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532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Customer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8712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 Cards  •  Bar  •  Donut  •  Line  •  Table  •  3 Slicers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685800" cy="102412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63931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7216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Product Performance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599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 Cards  •  2 Bar Charts  •  Treemap  •  Column  •  Scatter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828032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685800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9103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Discount &amp; Profitability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5248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 Cards  •  Bar  •  Line  •  Column  •  Scatter  •  Donut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49640" y="1261872"/>
            <a:ext cx="3291840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549640" y="1261872"/>
            <a:ext cx="3291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41080" y="1261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 Breakdown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41080" y="1691640"/>
            <a:ext cx="310896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732520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KPI Cards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44200" y="1709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B4D8"/>
                </a:solidFill>
              </a:rPr>
              <a:t>14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41080" y="2084832"/>
            <a:ext cx="3108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3252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Bar Charts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4420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C5500"/>
                </a:solidFill>
              </a:rPr>
              <a:t>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41080" y="2478024"/>
            <a:ext cx="310896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7325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Slicers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44200" y="2496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5CF6"/>
                </a:solidFill>
              </a:rPr>
              <a:t>12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641080" y="2871216"/>
            <a:ext cx="3108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3252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Line Charts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44200" y="28895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2C55E"/>
                </a:solidFill>
              </a:rPr>
              <a:t>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641080" y="3264408"/>
            <a:ext cx="310896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73252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Donut Charts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44200" y="3282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9E0B"/>
                </a:solidFill>
              </a:rPr>
              <a:t>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641080" y="3657600"/>
            <a:ext cx="3108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73252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Text Titles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744200" y="3675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41080" y="4050792"/>
            <a:ext cx="310896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7325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Map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74420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C4899"/>
                </a:solidFill>
              </a:rPr>
              <a:t>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641080" y="4443984"/>
            <a:ext cx="3108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73252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Treemap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744200" y="4462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1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41080" y="4837176"/>
            <a:ext cx="310896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732520" y="4855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Scatter Charts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744200" y="4855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B82F6"/>
                </a:solidFill>
              </a:rPr>
              <a:t>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641080" y="5230368"/>
            <a:ext cx="3108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732520" y="5248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Table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744200" y="5248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366F1"/>
                </a:solidFill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641080" y="5623560"/>
            <a:ext cx="3108960" cy="338328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732520" y="5641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744200" y="5641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B4D8"/>
                </a:solidFill>
              </a:rPr>
              <a:t>51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Critical findings from the Superstore data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261872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320040" y="406908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989320" y="1261872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989320" y="1261872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199632" y="133502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West Region Leads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199632" y="163677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$725K in sales — best performing region across all metrics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89320" y="2322576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989320" y="2322576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199632" y="23957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Tables = Biggest Loss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199632" y="269748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Sub-category Tables lost $17,753 — needs immediate pricing review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89320" y="338328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989320" y="338328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199632" y="34564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High Discount Kills Profit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199632" y="3758184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Orders with 40%+ discount average -$105 profit per order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989320" y="4443984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5989320" y="4443984"/>
            <a:ext cx="10972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199632" y="451713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Technology Most Profitable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199632" y="481888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12.5% profit margin vs Furniture at only 2.5% margin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989320" y="5504688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989320" y="5504688"/>
            <a:ext cx="109728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6199632" y="55778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Office Supplies Dominant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199632" y="58795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Most orders placed — but lower average order value per transaction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1216152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Technologies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Hands-on technical skills demonstrated in this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Superstore Sales Analysis  •  Rohan Kumar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577840" cy="38404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" y="1261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Excel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" y="1810512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40664" y="17465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 Cleaning and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" y="2194560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0664" y="21305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SUMIF / AVERAGEIF / VLOOKUP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" y="2578608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0664" y="2514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Pivot Tables and Charts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" y="2962656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40664" y="28986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Dashboard Design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" y="3346704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0664" y="32826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Conditional Formatting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1261872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309360" y="1261872"/>
            <a:ext cx="5577840" cy="38404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19088" y="12618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SQL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0528" y="1810512"/>
            <a:ext cx="128016" cy="128016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29984" y="17465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Database and Table Design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10528" y="2194560"/>
            <a:ext cx="128016" cy="128016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29984" y="21305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SELECT WHERE GROUP BY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10528" y="2578608"/>
            <a:ext cx="128016" cy="128016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729984" y="2514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HAVING ORDER BY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10528" y="2962656"/>
            <a:ext cx="128016" cy="128016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729984" y="28986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CASE Statements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10528" y="3346704"/>
            <a:ext cx="128016" cy="128016"/>
          </a:xfrm>
          <a:prstGeom prst="ellipse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29984" y="32826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DATEDIFF and Date Functions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59352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0040" y="3959352"/>
            <a:ext cx="5577840" cy="38404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29768" y="39593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Power BI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208" y="4507992"/>
            <a:ext cx="128016" cy="128016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40664" y="44439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 Import and Power Query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" y="4892040"/>
            <a:ext cx="128016" cy="128016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0664" y="4828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DAX Measures and Columns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1208" y="5276088"/>
            <a:ext cx="128016" cy="128016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40664" y="52120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KPI Cards and Slicers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1208" y="5660136"/>
            <a:ext cx="128016" cy="128016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40664" y="55961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4 Interactive Dashboards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1208" y="6044184"/>
            <a:ext cx="128016" cy="128016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40664" y="59801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 Modeling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3959352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09360" y="3959352"/>
            <a:ext cx="55778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19088" y="39593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Analysis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10528" y="45079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729984" y="44439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Business Insight Extraction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10528" y="48920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729984" y="4828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Trend and Profit Analysis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10528" y="527608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729984" y="52120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Customer Segmentation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10528" y="566013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729984" y="55961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Discount Impact Analysis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510528" y="604418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729984" y="59801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End-to-End Reporting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End-to-End Data Analytics Project by Rohan Kumar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603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560320" cy="2011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30/30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Excel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5603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83280" y="1691640"/>
            <a:ext cx="2560320" cy="201168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15/15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5603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560320" cy="20116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30/30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Power BI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5603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5603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052560" y="19202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75/75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525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11338560" cy="205740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3291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72160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3657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West region leads in both sales and profit — Central region needs strategic improvement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412394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" y="405993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High discounts (40%+) directly cause losses — discount policy must be revised immediately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52628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22960" y="446227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Tables and Bookcases are loss-making sub-categories — pricing review needed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4928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2960" y="486460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Technology products have the highest profit margin at 12.5% — focus area for growth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11480" y="59436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Rohan Kumar  •  Data Analytics  •  Vivekananda Global University  •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1061</Words>
  <Application>Microsoft Office PowerPoint</Application>
  <PresentationFormat>Widescreen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Retail Sales Analysis</dc:title>
  <dc:subject>PptxGenJS Presentation</dc:subject>
  <dc:creator>Rohan Kumar</dc:creator>
  <cp:lastModifiedBy>ROHAN KUMAR</cp:lastModifiedBy>
  <cp:revision>2</cp:revision>
  <dcterms:created xsi:type="dcterms:W3CDTF">2026-05-18T09:16:53Z</dcterms:created>
  <dcterms:modified xsi:type="dcterms:W3CDTF">2026-05-18T09:30:39Z</dcterms:modified>
</cp:coreProperties>
</file>